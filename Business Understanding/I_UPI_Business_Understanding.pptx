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88" autoAdjust="0"/>
    <p:restoredTop sz="94660" autoAdjust="0"/>
  </p:normalViewPr>
  <p:slideViewPr>
    <p:cSldViewPr snapToGrid="0" snapToObjects="1">
      <p:cViewPr varScale="1">
        <p:scale>
          <a:sx n="111" d="100"/>
          <a:sy n="111" d="100"/>
        </p:scale>
        <p:origin x="638" y="8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ctr"/>
            <a:r>
              <a:rPr sz="4400" b="1">
                <a:solidFill>
                  <a:srgbClr val="2C3E50"/>
                </a:solidFill>
                <a:latin typeface="Calibri"/>
              </a:rPr>
              <a:t>UPI Transaction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ctr"/>
            <a:r>
              <a:rPr sz="2400">
                <a:solidFill>
                  <a:srgbClr val="4A90E2"/>
                </a:solidFill>
              </a:rPr>
              <a:t>Phase I: Business Understanding &amp; Analytical Planning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ctr"/>
            <a:r>
              <a:rPr sz="1400">
                <a:solidFill>
                  <a:srgbClr val="7F8C8D"/>
                </a:solidFill>
              </a:rPr>
              <a:t>Tanmay Mandal  |  Data Analytics with GenAI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0752"/>
            <a:ext cx="8229600" cy="576760"/>
          </a:xfrm>
        </p:spPr>
        <p:txBody>
          <a:bodyPr>
            <a:normAutofit fontScale="90000"/>
          </a:bodyPr>
          <a:lstStyle/>
          <a:p>
            <a:r>
              <a:rPr sz="3200" b="1" dirty="0">
                <a:solidFill>
                  <a:srgbClr val="4A90E2"/>
                </a:solidFill>
                <a:latin typeface="Calibri"/>
              </a:rPr>
              <a:t>Core Business Challenges</a:t>
            </a:r>
          </a:p>
        </p:txBody>
      </p:sp>
      <p:sp>
        <p:nvSpPr>
          <p:cNvPr id="3" name="Rectangl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635267"/>
            <a:ext cx="8229600" cy="27432"/>
          </a:xfrm>
          <a:prstGeom prst="rect">
            <a:avLst/>
          </a:prstGeom>
          <a:solidFill>
            <a:srgbClr val="48C9B0"/>
          </a:solidFill>
          <a:ln>
            <a:solidFill>
              <a:srgbClr val="48C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897212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r>
              <a:rPr sz="1600" b="1" dirty="0">
                <a:solidFill>
                  <a:srgbClr val="2C3E50"/>
                </a:solidFill>
              </a:rPr>
              <a:t>Rising Fraud Risk: </a:t>
            </a:r>
            <a:r>
              <a:rPr sz="1600" dirty="0">
                <a:solidFill>
                  <a:srgbClr val="34495E"/>
                </a:solidFill>
              </a:rPr>
              <a:t>New attack vectors exploiting device vulnerabilities and merchant loopholes.</a:t>
            </a:r>
          </a:p>
          <a:p>
            <a:pPr>
              <a:spcBef>
                <a:spcPts val="1400"/>
              </a:spcBef>
            </a:pPr>
            <a:r>
              <a:rPr sz="1600" b="1" dirty="0">
                <a:solidFill>
                  <a:srgbClr val="2C3E50"/>
                </a:solidFill>
              </a:rPr>
              <a:t>Transaction Failures: </a:t>
            </a:r>
            <a:r>
              <a:rPr sz="1600" dirty="0">
                <a:solidFill>
                  <a:srgbClr val="34495E"/>
                </a:solidFill>
              </a:rPr>
              <a:t>Approximately 5.87% of transactions fail, leading to customer dissatisfaction and revenue leakage.</a:t>
            </a:r>
          </a:p>
          <a:p>
            <a:pPr>
              <a:spcBef>
                <a:spcPts val="1400"/>
              </a:spcBef>
            </a:pPr>
            <a:r>
              <a:rPr sz="1600" b="1" dirty="0">
                <a:solidFill>
                  <a:srgbClr val="2C3E50"/>
                </a:solidFill>
              </a:rPr>
              <a:t>Operational Inefficiency: </a:t>
            </a:r>
            <a:r>
              <a:rPr sz="1600" dirty="0">
                <a:solidFill>
                  <a:srgbClr val="34495E"/>
                </a:solidFill>
              </a:rPr>
              <a:t>Fraud alert resolution times average ~35 hours, impacting customer trust and giving fraudsters a window of opportunity.</a:t>
            </a:r>
          </a:p>
          <a:p>
            <a:pPr>
              <a:spcBef>
                <a:spcPts val="1400"/>
              </a:spcBef>
            </a:pPr>
            <a:r>
              <a:rPr sz="1600" b="1" dirty="0">
                <a:solidFill>
                  <a:srgbClr val="2C3E50"/>
                </a:solidFill>
              </a:rPr>
              <a:t>Segmentation Gaps: </a:t>
            </a:r>
            <a:r>
              <a:rPr sz="1600" dirty="0">
                <a:solidFill>
                  <a:srgbClr val="34495E"/>
                </a:solidFill>
              </a:rPr>
              <a:t>Need for data-driven segmentation for targeted fraud prevention and service improvement without adding friction to legitimate users.</a:t>
            </a:r>
          </a:p>
          <a:p>
            <a:pPr>
              <a:spcBef>
                <a:spcPts val="1400"/>
              </a:spcBef>
            </a:pPr>
            <a:r>
              <a:rPr sz="1600" b="1" dirty="0">
                <a:solidFill>
                  <a:srgbClr val="2C3E50"/>
                </a:solidFill>
              </a:rPr>
              <a:t>Compliance &amp; Monitoring: </a:t>
            </a:r>
            <a:r>
              <a:rPr sz="1600" dirty="0">
                <a:solidFill>
                  <a:srgbClr val="34495E"/>
                </a:solidFill>
              </a:rPr>
              <a:t>Ensuring robust tracking of Service Level Agreements (SLAs) and regulatory alerts.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3870"/>
            <a:ext cx="8229600" cy="664178"/>
          </a:xfrm>
        </p:spPr>
        <p:txBody>
          <a:bodyPr/>
          <a:lstStyle/>
          <a:p>
            <a:r>
              <a:rPr sz="3200" b="1" dirty="0">
                <a:solidFill>
                  <a:srgbClr val="4A90E2"/>
                </a:solidFill>
                <a:latin typeface="Calibri"/>
              </a:rPr>
              <a:t>Analytical Goals (BI Perspective)</a:t>
            </a:r>
          </a:p>
        </p:txBody>
      </p:sp>
      <p:sp>
        <p:nvSpPr>
          <p:cNvPr id="3" name="Rectangl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600204"/>
            <a:ext cx="8229600" cy="27432"/>
          </a:xfrm>
          <a:prstGeom prst="rect">
            <a:avLst/>
          </a:prstGeom>
          <a:solidFill>
            <a:srgbClr val="48C9B0"/>
          </a:solidFill>
          <a:ln>
            <a:solidFill>
              <a:srgbClr val="48C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591885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r>
              <a:rPr sz="1800" dirty="0">
                <a:solidFill>
                  <a:srgbClr val="34495E"/>
                </a:solidFill>
              </a:rPr>
              <a:t>Develop an Executive Dashboard to provide real-time visibility into transaction volumes, failure rates, and fraud incidence across the ecosystem.</a:t>
            </a:r>
          </a:p>
          <a:p>
            <a:pPr>
              <a:spcBef>
                <a:spcPts val="1600"/>
              </a:spcBef>
            </a:pPr>
            <a:r>
              <a:rPr sz="1800" dirty="0">
                <a:solidFill>
                  <a:srgbClr val="34495E"/>
                </a:solidFill>
              </a:rPr>
              <a:t>Perform robust Anomaly Detection to isolate risk drivers such as rooted devices, high-value outliers, or specific merchant categories.</a:t>
            </a:r>
          </a:p>
          <a:p>
            <a:pPr>
              <a:spcBef>
                <a:spcPts val="1600"/>
              </a:spcBef>
            </a:pPr>
            <a:r>
              <a:rPr sz="1800" dirty="0">
                <a:solidFill>
                  <a:srgbClr val="34495E"/>
                </a:solidFill>
              </a:rPr>
              <a:t>Segment Customer &amp; Merchant Behavior across geographic regions, device platforms, and payment channels to pinpoint vulnerabilities.</a:t>
            </a:r>
          </a:p>
          <a:p>
            <a:pPr>
              <a:spcBef>
                <a:spcPts val="1600"/>
              </a:spcBef>
            </a:pPr>
            <a:r>
              <a:rPr sz="1800" dirty="0">
                <a:solidFill>
                  <a:srgbClr val="34495E"/>
                </a:solidFill>
              </a:rPr>
              <a:t>Optimize Fraud Operations by analyzing alert resolution SLAs and minimizing false positives to improve operational bandwidth.</a:t>
            </a:r>
          </a:p>
          <a:p>
            <a:pPr>
              <a:spcBef>
                <a:spcPts val="1600"/>
              </a:spcBef>
            </a:pPr>
            <a:r>
              <a:rPr sz="1800" dirty="0">
                <a:solidFill>
                  <a:srgbClr val="34495E"/>
                </a:solidFill>
              </a:rPr>
              <a:t>Establish Data-Driven Traceability by ensuring all findings and KPIs map directly to verified ground-truth data.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547"/>
            <a:ext cx="8229600" cy="619970"/>
          </a:xfrm>
        </p:spPr>
        <p:txBody>
          <a:bodyPr/>
          <a:lstStyle/>
          <a:p>
            <a:r>
              <a:rPr sz="3200" b="1" dirty="0">
                <a:solidFill>
                  <a:srgbClr val="4A90E2"/>
                </a:solidFill>
                <a:latin typeface="Calibri"/>
              </a:rPr>
              <a:t>Core Key Performance Indicators (KPIs)</a:t>
            </a:r>
          </a:p>
        </p:txBody>
      </p:sp>
      <p:sp>
        <p:nvSpPr>
          <p:cNvPr id="3" name="Rectangl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618801"/>
            <a:ext cx="8229600" cy="27432"/>
          </a:xfrm>
          <a:prstGeom prst="rect">
            <a:avLst/>
          </a:prstGeom>
          <a:solidFill>
            <a:srgbClr val="48C9B0"/>
          </a:solidFill>
          <a:ln>
            <a:solidFill>
              <a:srgbClr val="48C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2827" y="603847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r>
              <a:rPr sz="1600" b="1" dirty="0">
                <a:solidFill>
                  <a:srgbClr val="4A90E2"/>
                </a:solidFill>
              </a:rPr>
              <a:t>Transaction Success &amp; Failure Rates: </a:t>
            </a:r>
            <a:r>
              <a:rPr sz="1600" dirty="0">
                <a:solidFill>
                  <a:srgbClr val="34495E"/>
                </a:solidFill>
              </a:rPr>
              <a:t>Measure platform reliability and identify infrastructural bottleneck areas.</a:t>
            </a:r>
          </a:p>
          <a:p>
            <a:pPr>
              <a:spcBef>
                <a:spcPts val="1400"/>
              </a:spcBef>
            </a:pPr>
            <a:r>
              <a:rPr sz="1600" b="1" dirty="0">
                <a:solidFill>
                  <a:srgbClr val="4A90E2"/>
                </a:solidFill>
              </a:rPr>
              <a:t>Fraud Detection Rate &amp; Fraud Incidence: </a:t>
            </a:r>
            <a:r>
              <a:rPr sz="1600" dirty="0">
                <a:solidFill>
                  <a:srgbClr val="34495E"/>
                </a:solidFill>
              </a:rPr>
              <a:t>Track the effectiveness of risk controls and absolute fraud volume.</a:t>
            </a:r>
          </a:p>
          <a:p>
            <a:pPr>
              <a:spcBef>
                <a:spcPts val="1400"/>
              </a:spcBef>
            </a:pPr>
            <a:r>
              <a:rPr sz="1600" b="1" dirty="0">
                <a:solidFill>
                  <a:srgbClr val="4A90E2"/>
                </a:solidFill>
              </a:rPr>
              <a:t>Average Transaction Value &amp; Peak Load: </a:t>
            </a:r>
            <a:r>
              <a:rPr sz="1600" dirty="0">
                <a:solidFill>
                  <a:srgbClr val="34495E"/>
                </a:solidFill>
              </a:rPr>
              <a:t>Monitor shifting customer spending patterns and system stress points.</a:t>
            </a:r>
          </a:p>
          <a:p>
            <a:pPr>
              <a:spcBef>
                <a:spcPts val="1400"/>
              </a:spcBef>
            </a:pPr>
            <a:r>
              <a:rPr sz="1600" b="1" dirty="0">
                <a:solidFill>
                  <a:srgbClr val="4A90E2"/>
                </a:solidFill>
              </a:rPr>
              <a:t>Device Vulnerability Index (Rooted vs. Secure): </a:t>
            </a:r>
            <a:r>
              <a:rPr sz="1600" dirty="0">
                <a:solidFill>
                  <a:srgbClr val="34495E"/>
                </a:solidFill>
              </a:rPr>
              <a:t>Quantify risk stemming from compromised hardware ecosystems.</a:t>
            </a:r>
          </a:p>
          <a:p>
            <a:pPr>
              <a:spcBef>
                <a:spcPts val="1400"/>
              </a:spcBef>
            </a:pPr>
            <a:r>
              <a:rPr sz="1600" b="1" dirty="0">
                <a:solidFill>
                  <a:srgbClr val="4A90E2"/>
                </a:solidFill>
              </a:rPr>
              <a:t>Fraud Alert Resolution SLA: </a:t>
            </a:r>
            <a:r>
              <a:rPr sz="1600" dirty="0">
                <a:solidFill>
                  <a:srgbClr val="34495E"/>
                </a:solidFill>
              </a:rPr>
              <a:t>Track operational responsiveness and analyst bandwidth to detected anomalies.</a:t>
            </a:r>
          </a:p>
          <a:p>
            <a:pPr>
              <a:spcBef>
                <a:spcPts val="1400"/>
              </a:spcBef>
            </a:pPr>
            <a:r>
              <a:rPr sz="1600" b="1" dirty="0">
                <a:solidFill>
                  <a:srgbClr val="4A90E2"/>
                </a:solidFill>
              </a:rPr>
              <a:t>Customer Satisfaction Score (CSAT): </a:t>
            </a:r>
            <a:r>
              <a:rPr sz="1600" dirty="0">
                <a:solidFill>
                  <a:srgbClr val="34495E"/>
                </a:solidFill>
              </a:rPr>
              <a:t>Measure end-user sentiment and the reputational impact of transaction failures.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57784"/>
          </a:xfrm>
        </p:spPr>
        <p:txBody>
          <a:bodyPr>
            <a:normAutofit fontScale="90000"/>
          </a:bodyPr>
          <a:lstStyle/>
          <a:p>
            <a:r>
              <a:rPr sz="3200" b="1" dirty="0">
                <a:solidFill>
                  <a:srgbClr val="4A90E2"/>
                </a:solidFill>
                <a:latin typeface="Calibri"/>
              </a:rPr>
              <a:t>Analytical Hypotheses</a:t>
            </a:r>
          </a:p>
        </p:txBody>
      </p:sp>
      <p:sp>
        <p:nvSpPr>
          <p:cNvPr id="3" name="Rectangl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557784"/>
            <a:ext cx="8229600" cy="27432"/>
          </a:xfrm>
          <a:prstGeom prst="rect">
            <a:avLst/>
          </a:prstGeom>
          <a:solidFill>
            <a:srgbClr val="48C9B0"/>
          </a:solidFill>
          <a:ln>
            <a:solidFill>
              <a:srgbClr val="48C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557784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r>
              <a:rPr sz="1600" b="1" dirty="0">
                <a:solidFill>
                  <a:srgbClr val="17A2B8"/>
                </a:solidFill>
              </a:rPr>
              <a:t>H1 (Device Integrity): </a:t>
            </a:r>
            <a:r>
              <a:rPr sz="1600" dirty="0">
                <a:solidFill>
                  <a:srgbClr val="2D2D2D"/>
                </a:solidFill>
              </a:rPr>
              <a:t>Rooted or jailbroken devices are associated with significantly higher fraud rates than secure devices.</a:t>
            </a:r>
          </a:p>
          <a:p>
            <a:pPr>
              <a:spcBef>
                <a:spcPts val="1400"/>
              </a:spcBef>
            </a:pPr>
            <a:r>
              <a:rPr sz="1600" b="1" dirty="0">
                <a:solidFill>
                  <a:srgbClr val="17A2B8"/>
                </a:solidFill>
              </a:rPr>
              <a:t>H2 (Operational Reliability): </a:t>
            </a:r>
            <a:r>
              <a:rPr sz="1600" dirty="0">
                <a:solidFill>
                  <a:srgbClr val="2D2D2D"/>
                </a:solidFill>
              </a:rPr>
              <a:t>Transaction success and failure statuses vary significantly depending on the device hardware type or payment channel.</a:t>
            </a:r>
          </a:p>
          <a:p>
            <a:pPr>
              <a:spcBef>
                <a:spcPts val="1400"/>
              </a:spcBef>
            </a:pPr>
            <a:r>
              <a:rPr sz="1600" b="1" dirty="0">
                <a:solidFill>
                  <a:srgbClr val="17A2B8"/>
                </a:solidFill>
              </a:rPr>
              <a:t>H3 (Segment Vulnerability): </a:t>
            </a:r>
            <a:r>
              <a:rPr sz="1600" dirty="0">
                <a:solidFill>
                  <a:srgbClr val="2D2D2D"/>
                </a:solidFill>
              </a:rPr>
              <a:t>Fraud incidence varies significantly across different merchant business categories and geographic regions.</a:t>
            </a:r>
          </a:p>
          <a:p>
            <a:pPr>
              <a:spcBef>
                <a:spcPts val="1400"/>
              </a:spcBef>
            </a:pPr>
            <a:r>
              <a:rPr sz="1600" b="1" dirty="0">
                <a:solidFill>
                  <a:srgbClr val="17A2B8"/>
                </a:solidFill>
              </a:rPr>
              <a:t>H4 (Risk Model Validation): </a:t>
            </a:r>
            <a:r>
              <a:rPr sz="1600" dirty="0">
                <a:solidFill>
                  <a:srgbClr val="2D2D2D"/>
                </a:solidFill>
              </a:rPr>
              <a:t>The current system-assigned customer risk score accurately predicts actual fraud occurrence.</a:t>
            </a:r>
          </a:p>
          <a:p>
            <a:pPr>
              <a:spcBef>
                <a:spcPts val="1400"/>
              </a:spcBef>
            </a:pPr>
            <a:r>
              <a:rPr sz="1600" b="1" dirty="0">
                <a:solidFill>
                  <a:srgbClr val="17A2B8"/>
                </a:solidFill>
              </a:rPr>
              <a:t>H5 (Value Distribution): </a:t>
            </a:r>
            <a:r>
              <a:rPr sz="1600" dirty="0">
                <a:solidFill>
                  <a:srgbClr val="2D2D2D"/>
                </a:solidFill>
              </a:rPr>
              <a:t>Fraudulent transactions involve significantly different amounts compared to legitimate, non-fraudulent transactions.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420</Words>
  <Application>Microsoft Office PowerPoint</Application>
  <PresentationFormat>On-screen Show (16:9)</PresentationFormat>
  <Paragraphs>35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Core Business Challenges</vt:lpstr>
      <vt:lpstr>Analytical Goals (BI Perspective)</vt:lpstr>
      <vt:lpstr>Core Key Performance Indicators (KPIs)</vt:lpstr>
      <vt:lpstr>Analytical Hypotheses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Tanmay Mandal</cp:lastModifiedBy>
  <cp:revision>4</cp:revision>
  <dcterms:created xsi:type="dcterms:W3CDTF">2013-01-27T09:14:16Z</dcterms:created>
  <dcterms:modified xsi:type="dcterms:W3CDTF">2026-08-10T20:39:03Z</dcterms:modified>
  <cp:category/>
</cp:coreProperties>
</file>
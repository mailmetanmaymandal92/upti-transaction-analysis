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C3708E-4959-F1AE-F91D-363A78C1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666" y="2743200"/>
            <a:ext cx="6150491" cy="410032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1611414" y="1064931"/>
            <a:ext cx="926994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Transaction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332384" y="2194560"/>
            <a:ext cx="5828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Risk &amp; Performance Intelligence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0" y="2874753"/>
            <a:ext cx="1463040" cy="45720"/>
          </a:xfrm>
          <a:prstGeom prst="rect">
            <a:avLst/>
          </a:prstGeom>
          <a:solidFill>
            <a:srgbClr val="F2545B"/>
          </a:solidFill>
          <a:ln/>
        </p:spPr>
      </p:sp>
      <p:sp>
        <p:nvSpPr>
          <p:cNvPr id="7" name="Text 5"/>
          <p:cNvSpPr/>
          <p:nvPr/>
        </p:nvSpPr>
        <p:spPr>
          <a:xfrm>
            <a:off x="3918971" y="3073807"/>
            <a:ext cx="435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Analytics with GenAI  ·  Capstone Project 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85BC21-F2EF-0874-EA4E-C2BBD8D3CD23}"/>
              </a:ext>
            </a:extLst>
          </p:cNvPr>
          <p:cNvSpPr/>
          <p:nvPr/>
        </p:nvSpPr>
        <p:spPr>
          <a:xfrm>
            <a:off x="4383081" y="3463925"/>
            <a:ext cx="330391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- Tanmay mandal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transactions · ₹42.4L value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691640"/>
            <a:ext cx="384048" cy="38404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Risk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fraud · 2,000 alerts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691640"/>
            <a:ext cx="384048" cy="384048"/>
          </a:xfrm>
          <a:prstGeom prst="ellipse">
            <a:avLst/>
          </a:prstGeom>
          <a:solidFill>
            <a:srgbClr val="14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5.87% failure 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transaction behaviour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8328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383280" y="46177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fraud &amp; failure drivers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2648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6177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executive KPIs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86968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7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869680" y="46177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E1B3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drives the deck: where does risk actually live in a 100K-transaction UPI platform?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foundation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upi_transaction_history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60020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12080" y="160020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6002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device_info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0" y="160020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774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upi_account_details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2080" y="237744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3774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customer_master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3774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546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customer_feedback_surveys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315468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315468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1546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fraud_alert_history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4206240" cy="530352"/>
          </a:xfrm>
          <a:prstGeom prst="roundRect">
            <a:avLst>
              <a:gd name="adj" fmla="val 8621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319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merchant_info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0" y="393192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01200" y="1600200"/>
            <a:ext cx="2011680" cy="4251960"/>
          </a:xfrm>
          <a:prstGeom prst="roundRect">
            <a:avLst>
              <a:gd name="adj" fmla="val 3636"/>
            </a:avLst>
          </a:prstGeom>
          <a:solidFill>
            <a:srgbClr val="0E1B33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0" y="28437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0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0" y="3502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36941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01200" y="4160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0" y="4352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0" y="48188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5010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· 138,500 records audited for quality, keys and schema consistency.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at a glance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₹42.42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5.87%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54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36576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Phone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805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Device (2.2% fraud)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55280" y="36576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Apparel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13816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Merchant (2.2% fraud)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₹42,41,774.26 total transaction value across 12 months.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is compounding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7772400" cy="23957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40480"/>
            <a:ext cx="7772400" cy="22128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280160"/>
            <a:ext cx="2834640" cy="4773168"/>
          </a:xfrm>
          <a:prstGeom prst="roundRect">
            <a:avLst>
              <a:gd name="adj" fmla="val 2581"/>
            </a:avLst>
          </a:prstGeom>
          <a:solidFill>
            <a:srgbClr val="0E1B33"/>
          </a:solidFill>
          <a:ln/>
        </p:spPr>
      </p:sp>
      <p:sp>
        <p:nvSpPr>
          <p:cNvPr id="8" name="Text 4"/>
          <p:cNvSpPr/>
          <p:nvPr/>
        </p:nvSpPr>
        <p:spPr>
          <a:xfrm>
            <a:off x="900684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00684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4K → 21K</a:t>
            </a:r>
            <a:endParaRPr lang="en-US" sz="3000" dirty="0"/>
          </a:p>
          <a:p>
            <a:pPr marL="0" indent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volume, Sep to Aug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9006840" y="320040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windows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AM · 1–3 PM · 8–9 PM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daily volume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7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AM — safe maintenance window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integrity is the signal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 SIGNAL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2A8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F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devices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545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20.69%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E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/ jailbroken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≈15× fraud risk  ·  Chi-square p ≈ 0.000  ·  Cramér’s V 0.2414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 barely moves fraud — root status does.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68880" y="4974336"/>
            <a:ext cx="274320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4892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276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68880" y="5358384"/>
            <a:ext cx="2493818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5276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660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5742432"/>
            <a:ext cx="2493818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566013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044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68880" y="6126480"/>
            <a:ext cx="2369127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604418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1691640"/>
            <a:ext cx="5212080" cy="3977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34894"/>
            <a:ext cx="5120640" cy="15727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E27CED4-4C72-08BA-4AE3-1EB672D21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498" y="3570729"/>
            <a:ext cx="4517732" cy="1935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matters — and what doesn’t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173757"/>
              </p:ext>
            </p:extLst>
          </p:nvPr>
        </p:nvGraphicFramePr>
        <p:xfrm>
          <a:off x="640080" y="1371600"/>
          <a:ext cx="7680960" cy="370636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 by device root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Cramér’s V 0.2414 · 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3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amount by fraud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Amount: North vs West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across device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 by merchant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 by 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status by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risk score vs fraud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−0.0016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37160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FF505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15544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device root status shows a real effect.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200400"/>
            <a:ext cx="3017520" cy="132588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663440"/>
            <a:ext cx="2377440" cy="1344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transactions break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FAILURE REASONS (RANKED)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PIN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457200" cy="457200"/>
          </a:xfrm>
          <a:prstGeom prst="ellipse">
            <a:avLst/>
          </a:prstGeom>
          <a:solidFill>
            <a:srgbClr val="142A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304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457200" cy="457200"/>
          </a:xfrm>
          <a:prstGeom prst="ellipse">
            <a:avLst/>
          </a:prstGeom>
          <a:solidFill>
            <a:srgbClr val="14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9626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Blocked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457200" cy="457200"/>
          </a:xfrm>
          <a:prstGeom prst="ellipse">
            <a:avLst/>
          </a:prstGeom>
          <a:solidFill>
            <a:srgbClr val="142A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621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Down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contribution to the 5.87% failure rate.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BY CHANNEL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1383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61904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057400" y="5349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551383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5.90%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94560" y="61904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74720" y="5349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551383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5.71%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61904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5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6583680" cy="2020824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11880"/>
            <a:ext cx="6583680" cy="225856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029200" y="598932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0E1B33"/>
          </a:solidFill>
          <a:ln/>
        </p:spPr>
      </p:sp>
      <p:sp>
        <p:nvSpPr>
          <p:cNvPr id="32" name="Text 28"/>
          <p:cNvSpPr/>
          <p:nvPr/>
        </p:nvSpPr>
        <p:spPr>
          <a:xfrm>
            <a:off x="5120640" y="5989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 SLA:   87.6% resolved   ·   35.4 h avg resolution   ·   248 still open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transacts, who carries risk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FRAUD RATE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64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647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3756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TYPES BY FRAUD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0" y="3611880"/>
            <a:ext cx="2194560" cy="182880"/>
          </a:xfrm>
          <a:prstGeom prst="rect">
            <a:avLst/>
          </a:prstGeom>
          <a:solidFill>
            <a:srgbClr val="F2545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520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0" y="4114800"/>
            <a:ext cx="2194560" cy="182880"/>
          </a:xfrm>
          <a:prstGeom prst="rect">
            <a:avLst/>
          </a:prstGeom>
          <a:solidFill>
            <a:srgbClr val="F2545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560320" y="4617720"/>
            <a:ext cx="1795549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526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85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7K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77240" y="59618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0" y="51206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5285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501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337560" y="59618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Merchants</a:t>
            </a:r>
            <a:endParaRPr lang="en-US" sz="15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577840" cy="1563624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00400"/>
            <a:ext cx="5029200" cy="248716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035040" y="5943600"/>
            <a:ext cx="5577840" cy="594360"/>
          </a:xfrm>
          <a:prstGeom prst="roundRect">
            <a:avLst>
              <a:gd name="adj" fmla="val 9231"/>
            </a:avLst>
          </a:prstGeom>
          <a:solidFill>
            <a:srgbClr val="0E1B33"/>
          </a:solidFill>
          <a:ln/>
        </p:spPr>
      </p:sp>
      <p:sp>
        <p:nvSpPr>
          <p:cNvPr id="31" name="Text 27"/>
          <p:cNvSpPr/>
          <p:nvPr/>
        </p:nvSpPr>
        <p:spPr>
          <a:xfrm>
            <a:off x="6126480" y="59436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sits with device integrity, not customer segment.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THREE-PAGE DECISION SURFACE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64040" cy="5257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481328"/>
            <a:ext cx="9244584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THREE-PAGE DECISION SURFACE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&amp; 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64040" cy="5257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481328"/>
            <a:ext cx="9244584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THREE-PAGE DECISION SURFACE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&amp; Merchants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332720" y="6263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64040" cy="5257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481328"/>
            <a:ext cx="9244584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moves that change the numbers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42A4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9344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46304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or step-up rooted devices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0" y="14630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~15× fraud risk concentrated 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42A4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505456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35915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4-hour fraud triage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235915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 h avg resolution · 248 open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5526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42A4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4015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255264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 to cut PIN failures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325526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PIN is failure driver #1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151376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42A4C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15137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risk score with device signals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4151376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score: r = −0.0016 vs fraud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42A4C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51937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504748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around peak windows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5047488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AM · 1–3 PM · 8–9 PM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FE3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03504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247 · Data Analytics with GenAI · UPI Transaction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648</Words>
  <Application>Microsoft Office PowerPoint</Application>
  <PresentationFormat>Widescreen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Tanmay Mandal</cp:lastModifiedBy>
  <cp:revision>4</cp:revision>
  <cp:lastPrinted>2026-08-10T21:22:43Z</cp:lastPrinted>
  <dcterms:created xsi:type="dcterms:W3CDTF">2026-08-10T18:10:42Z</dcterms:created>
  <dcterms:modified xsi:type="dcterms:W3CDTF">2026-08-10T21:29:46Z</dcterms:modified>
</cp:coreProperties>
</file>